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/ توضيحي</c:v>
                </c:pt>
              </c:strCache>
            </c:strRef>
          </c:tx>
          <c:spPr>
            <a:solidFill>
              <a:srgbClr val="0060A8"/>
            </a:solidFill>
          </c:spPr>
          <c:cat>
            <c:strRef>
              <c:f>Sheet1!$A$2:$A$4</c:f>
              <c:strCache>
                <c:ptCount val="3"/>
                <c:pt idx="0">
                  <c:v>Baseline / الأساس</c:v>
                </c:pt>
                <c:pt idx="1">
                  <c:v>Pilot / التجربة</c:v>
                </c:pt>
                <c:pt idx="2">
                  <c:v>Target / المستهدف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60</c:v>
                </c:pt>
                <c:pt idx="2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IBM Plex Sans Arab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bilingual layout. Replace all bracketed fields. Arabic uses RTL paragraphs. Sample names, figures and projects are illustrative. Install the bundled fonts before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bilingual layout. Replace all bracketed fields. Arabic uses RTL paragraphs. Sample names, figures and projects are illustrative. Install the bundled fonts before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bilingual layout. Replace all bracketed fields. Arabic uses RTL paragraphs. Sample names, figures and projects are illustrative. Install the bundled fonts before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bilingual layout. Replace all bracketed fields. Arabic uses RTL paragraphs. Sample names, figures and projects are illustrative. Install the bundled fonts before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bilingual layout. Replace all bracketed fields. Arabic uses RTL paragraphs. Sample names, figures and projects are illustrative. Install the bundled fonts before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bilingual layout. Replace all bracketed fields. Arabic uses RTL paragraphs. Sample names, figures and projects are illustrative. Install the bundled fonts before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bilingual layout. Replace all bracketed fields. Arabic uses RTL paragraphs. Sample names, figures and projects are illustrative. Install the bundled fonts before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bilingual layout. Replace all bracketed fields. Arabic uses RTL paragraphs. Sample names, figures and projects are illustrative. Install the bundled fonts before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bilingual layout. Replace all bracketed fields. Arabic uses RTL paragraphs. Sample names, figures and projects are illustrative. Install the bundled fonts before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bilingual layout. Replace all bracketed fields. Arabic uses RTL paragraphs. Sample names, figures and projects are illustrative. Install the bundled fonts before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bilingual layout. Replace all bracketed fields. Arabic uses RTL paragraphs. Sample names, figures and projects are illustrative. Install the bundled fonts before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bilingual layout. Replace all bracketed fields. Arabic uses RTL paragraphs. Sample names, figures and projects are illustrative. Install the bundled fonts before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bilingual layout. Replace all bracketed fields. Arabic uses RTL paragraphs. Sample names, figures and projects are illustrative. Install the bundled fonts before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thar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"/>
            <a:ext cx="2057400" cy="857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365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ATHAR INTELLIGENCE · أثر الذكاء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050"/>
                </a:solidFill>
                <a:latin typeface="Manrope"/>
              </a:defRPr>
            </a:pPr>
            <a:r>
              <a:t>Intelligence that creates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8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ذكاء يصنع أثراً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789920" cy="1371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hello@athar.example · Riyadh / الرياض · EDITABLE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AI-PRS-2026-001 · 01/13</a:t>
            </a:r>
          </a:p>
        </p:txBody>
      </p:sp>
      <p:pic>
        <p:nvPicPr>
          <p:cNvPr id="10" name="Picture 9" descr="Athar-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11680"/>
            <a:ext cx="3566160" cy="3566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246888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7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[Presentation title / عنوان العرض]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49039"/>
            <a:ext cx="6766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0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[Client / العميل]</a:t>
            </a:r>
          </a:p>
          <a:p>
            <a:pPr algn="r" rtl="1">
              <a:defRPr sz="20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[Presenter / مقدم العرض]</a:t>
            </a:r>
          </a:p>
          <a:p>
            <a:pPr algn="r" rtl="1">
              <a:defRPr sz="20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[Date / التاريخ]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thar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"/>
            <a:ext cx="2057400" cy="857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365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ATHAR INTELLIGENCE · أثر الذكاء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050"/>
                </a:solidFill>
                <a:latin typeface="Manrope"/>
              </a:defRPr>
            </a:pPr>
            <a:r>
              <a:t>01 / 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8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٠١ / الفرصة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789920" cy="1371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hello@athar.example · Riyadh / الرياض · EDITABLE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AI-PRS-2026-001 · 02/13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240280"/>
            <a:ext cx="10789920" cy="30175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603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FFFFFF"/>
                </a:solidFill>
                <a:latin typeface="Manrope"/>
              </a:defRPr>
            </a:pPr>
            <a:r>
              <a:t>[Section introduction]</a:t>
            </a:r>
          </a:p>
          <a:p>
            <a:pPr>
              <a:defRPr sz="2600" b="0">
                <a:solidFill>
                  <a:srgbClr val="FFFFFF"/>
                </a:solidFill>
                <a:latin typeface="Manrope"/>
              </a:defRPr>
            </a:pPr>
            <a:r>
              <a:t>From opportunity to impact.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603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800" b="0">
                <a:solidFill>
                  <a:srgbClr val="FFFFFF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[مقدمة القسم]</a:t>
            </a:r>
          </a:p>
          <a:p>
            <a:pPr algn="r" rtl="1">
              <a:defRPr sz="2800" b="0">
                <a:solidFill>
                  <a:srgbClr val="FFFFFF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من الفرصة إلى الأثر.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4983480"/>
            <a:ext cx="1828800" cy="3657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thar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"/>
            <a:ext cx="2057400" cy="857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365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ATHAR INTELLIGENCE · أثر الذكاء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050"/>
                </a:solidFill>
                <a:latin typeface="Manrope"/>
              </a:defRPr>
            </a:pPr>
            <a:r>
              <a:t>Title +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8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عنوان ومحتوى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789920" cy="1371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hello@athar.example · Riyadh / الرياض · EDITABLE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AI-PRS-2026-001 · 03/13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2050"/>
                </a:solidFill>
                <a:latin typeface="Manrope"/>
              </a:defRPr>
            </a:pPr>
            <a:r>
              <a:t>[Key message]</a:t>
            </a:r>
          </a:p>
          <a:p>
            <a:pPr>
              <a:defRPr sz="2000" b="0">
                <a:solidFill>
                  <a:srgbClr val="002050"/>
                </a:solidFill>
                <a:latin typeface="Manrope"/>
              </a:defRPr>
            </a:pPr>
            <a:r>
              <a:t>[Supporting point 1]</a:t>
            </a:r>
          </a:p>
          <a:p>
            <a:pPr>
              <a:defRPr sz="2000" b="0">
                <a:solidFill>
                  <a:srgbClr val="002050"/>
                </a:solidFill>
                <a:latin typeface="Manrope"/>
              </a:defRPr>
            </a:pPr>
            <a:r>
              <a:t>[Supporting point 2]</a:t>
            </a:r>
          </a:p>
          <a:p>
            <a:pPr>
              <a:defRPr sz="2000" b="0">
                <a:solidFill>
                  <a:srgbClr val="002050"/>
                </a:solidFill>
                <a:latin typeface="Manrope"/>
              </a:defRPr>
            </a:pPr>
            <a:r>
              <a:t>[Supporting point 3]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2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[الرسالة الرئيسية]</a:t>
            </a:r>
          </a:p>
          <a:p>
            <a:pPr algn="r" rtl="1">
              <a:defRPr sz="22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[النقطة الداعمة ١]</a:t>
            </a:r>
          </a:p>
          <a:p>
            <a:pPr algn="r" rtl="1">
              <a:defRPr sz="22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[النقطة الداعمة ٢]</a:t>
            </a:r>
          </a:p>
          <a:p>
            <a:pPr algn="r" rtl="1">
              <a:defRPr sz="22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[النقطة الداعمة ٣]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thar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"/>
            <a:ext cx="2057400" cy="857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365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ATHAR INTELLIGENCE · أثر الذكاء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050"/>
                </a:solidFill>
                <a:latin typeface="Manrope"/>
              </a:defRPr>
            </a:pPr>
            <a:r>
              <a:t>Two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8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رؤيتان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789920" cy="1371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hello@athar.example · Riyadh / الرياض · EDITABLE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AI-PRS-2026-001 · 04/13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5120640" cy="33832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0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CURRENT STATE</a:t>
            </a:r>
          </a:p>
          <a:p>
            <a:pPr algn="r" rtl="1">
              <a:defRPr sz="20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الوضع الحالي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0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[Description / الوصف]</a:t>
            </a:r>
          </a:p>
          <a:p>
            <a:pPr algn="r" rtl="1">
              <a:defRPr sz="20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[Evidence / الأدلة]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03120"/>
            <a:ext cx="5120640" cy="33832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3317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0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TARGET STATE</a:t>
            </a:r>
          </a:p>
          <a:p>
            <a:pPr algn="r" rtl="1">
              <a:defRPr sz="20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الوضع المستهدف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52044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0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[Description / الوصف]</a:t>
            </a:r>
          </a:p>
          <a:p>
            <a:pPr algn="r" rtl="1">
              <a:defRPr sz="20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[Evidence / الأدلة]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thar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"/>
            <a:ext cx="2057400" cy="857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365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ATHAR INTELLIGENCE · أثر الذكاء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050"/>
                </a:solidFill>
                <a:latin typeface="Manrope"/>
              </a:defRPr>
            </a:pPr>
            <a:r>
              <a:t>Image +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8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صورة وسرد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789920" cy="1371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hello@athar.example · Riyadh / الرياض · EDITABLE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AI-PRS-2026-001 · 05/13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5120640" cy="333756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0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[Insert approved image]</a:t>
            </a:r>
          </a:p>
          <a:p>
            <a:pPr algn="r" rtl="1">
              <a:defRPr sz="20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[أدرج صورة معتمدة]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2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[Image narrative]</a:t>
            </a:r>
          </a:p>
          <a:p>
            <a:pPr algn="r" rtl="1">
              <a:defRPr sz="22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[شرح الصورة]</a:t>
            </a:r>
          </a:p>
          <a:p>
            <a:pPr algn="r" rtl="1">
              <a:defRPr sz="22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[Caption and source / الوصف والمصدر]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thar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"/>
            <a:ext cx="2057400" cy="857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365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ATHAR INTELLIGENCE · أثر الذكاء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050"/>
                </a:solidFill>
                <a:latin typeface="Manrope"/>
              </a:defRPr>
            </a:pPr>
            <a:r>
              <a:t>Impact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8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الأثر في لمحة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789920" cy="1371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hello@athar.example · Riyadh / الرياض · EDITABLE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AI-PRS-2026-001 · 06/13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286000"/>
            <a:ext cx="2560320" cy="2286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60A8"/>
                </a:solidFill>
                <a:latin typeface="Manrope"/>
              </a:defRPr>
            </a:pPr>
            <a:r>
              <a:t>32%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7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Efficiency</a:t>
            </a:r>
          </a:p>
          <a:p>
            <a:pPr algn="r" rtl="1">
              <a:defRPr sz="17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الكفاءة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2286000"/>
            <a:ext cx="2560320" cy="2286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5603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60A8"/>
                </a:solidFill>
                <a:latin typeface="Manrope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657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7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Weeks</a:t>
            </a:r>
          </a:p>
          <a:p>
            <a:pPr algn="r" rtl="1">
              <a:defRPr sz="17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أسابيع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286000"/>
            <a:ext cx="2560320" cy="2286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5603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60A8"/>
                </a:solidFill>
                <a:latin typeface="Manrope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57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7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Use cases</a:t>
            </a:r>
          </a:p>
          <a:p>
            <a:pPr algn="r" rtl="1">
              <a:defRPr sz="17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حالات الاستخدام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2286000"/>
            <a:ext cx="2560320" cy="2286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5603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60A8"/>
                </a:solidFill>
                <a:latin typeface="Manrope"/>
              </a:defRPr>
            </a:pPr>
            <a:r>
              <a:t>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657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7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Target quality</a:t>
            </a:r>
          </a:p>
          <a:p>
            <a:pPr algn="r" rtl="1">
              <a:defRPr sz="17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الجودة المستهدفة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663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3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Illustrative values / قيم توضيحية — replace with verified data / استبدل ببيانات موثقة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thar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"/>
            <a:ext cx="2057400" cy="857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365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ATHAR INTELLIGENCE · أثر الذكاء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050"/>
                </a:solidFill>
                <a:latin typeface="Manrope"/>
              </a:defRPr>
            </a:pPr>
            <a:r>
              <a:t>Our service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8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محاور خدماتنا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789920" cy="1371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hello@athar.example · Riyadh / الرياض · EDITABLE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AI-PRS-2026-001 · 07/13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3474720" cy="33832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3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AI strategy</a:t>
            </a:r>
          </a:p>
          <a:p>
            <a:pPr algn="r" rtl="1">
              <a:defRPr sz="23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استراتيجية الذكاء الاصطناعي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[Description / الوصف]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103120"/>
            <a:ext cx="3474720" cy="33832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4688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3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Applied AI</a:t>
            </a:r>
          </a:p>
          <a:p>
            <a:pPr algn="r" rtl="1">
              <a:defRPr sz="23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الذكاء الاصطناعي التطبيقي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2062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[Description / الوصف]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103120"/>
            <a:ext cx="3474720" cy="33832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246888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3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Data &amp; analytics</a:t>
            </a:r>
          </a:p>
          <a:p>
            <a:pPr algn="r" rtl="1">
              <a:defRPr sz="23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البيانات والتحليلات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2062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[Description / الوصف]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thar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"/>
            <a:ext cx="2057400" cy="857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365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ATHAR INTELLIGENCE · أثر الذكاء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050"/>
                </a:solidFill>
                <a:latin typeface="Manrope"/>
              </a:defRPr>
            </a:pPr>
            <a:r>
              <a:t>Delivery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8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الجدول الزمني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789920" cy="1371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hello@athar.example · Riyadh / الرياض · EDITABLE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AI-PRS-2026-001 · 08/13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377440"/>
            <a:ext cx="2560320" cy="3657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2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01</a:t>
            </a:r>
          </a:p>
          <a:p>
            <a:pPr algn="r" rtl="1">
              <a:defRPr sz="22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Discover</a:t>
            </a:r>
          </a:p>
          <a:p>
            <a:pPr algn="r" rtl="1">
              <a:defRPr sz="22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استكشاف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72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5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[Date / التاريخ]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2377440"/>
            <a:ext cx="2560320" cy="3657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5603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2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02</a:t>
            </a:r>
          </a:p>
          <a:p>
            <a:pPr algn="r" rtl="1">
              <a:defRPr sz="22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Design</a:t>
            </a:r>
          </a:p>
          <a:p>
            <a:pPr algn="r" rtl="1">
              <a:defRPr sz="22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تصميم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572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5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[Date / التاريخ]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377440"/>
            <a:ext cx="2560320" cy="3657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5603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2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03</a:t>
            </a:r>
          </a:p>
          <a:p>
            <a:pPr algn="r" rtl="1">
              <a:defRPr sz="22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Deliver</a:t>
            </a:r>
          </a:p>
          <a:p>
            <a:pPr algn="r" rtl="1">
              <a:defRPr sz="22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تنفيذ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572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5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[Date / التاريخ]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2377440"/>
            <a:ext cx="2560320" cy="3657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56032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2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04</a:t>
            </a:r>
          </a:p>
          <a:p>
            <a:pPr algn="r" rtl="1">
              <a:defRPr sz="22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Enable</a:t>
            </a:r>
          </a:p>
          <a:p>
            <a:pPr algn="r" rtl="1">
              <a:defRPr sz="22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تمكين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572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5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[Date / التاريخ]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thar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"/>
            <a:ext cx="2057400" cy="857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365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ATHAR INTELLIGENCE · أثر الذكاء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050"/>
                </a:solidFill>
                <a:latin typeface="Manrope"/>
              </a:defRPr>
            </a:pPr>
            <a:r>
              <a:t>Meet 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8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فريق العمل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789920" cy="1371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hello@athar.example · Riyadh / الرياض · EDITABLE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AI-PRS-2026-001 · 09/13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3383280" cy="18288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060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[Portrait / صورة]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605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[Name / الاسم]</a:t>
            </a:r>
          </a:p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[Role / الدور]</a:t>
            </a:r>
          </a:p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[Short bio / نبذة]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103120"/>
            <a:ext cx="3383280" cy="18288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6060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[Portrait / صورة]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1605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[Name / الاسم]</a:t>
            </a:r>
          </a:p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[Role / الدور]</a:t>
            </a:r>
          </a:p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[Short bio / نبذة]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103120"/>
            <a:ext cx="3383280" cy="18288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26060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[Portrait / صورة]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1605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[Name / الاسم]</a:t>
            </a:r>
          </a:p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[Role / الدور]</a:t>
            </a:r>
          </a:p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[Short bio / نبذة]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thar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"/>
            <a:ext cx="2057400" cy="857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365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ATHAR INTELLIGENCE · أثر الذكاء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050"/>
                </a:solidFill>
                <a:latin typeface="Manrope"/>
              </a:defRPr>
            </a:pPr>
            <a:r>
              <a:t>Project /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8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مشروع / دراسة حالة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789920" cy="1371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hello@athar.example · Riyadh / الرياض · EDITABLE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AI-PRS-2026-001 · 10/13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2050"/>
                </a:solidFill>
                <a:latin typeface="Manrope"/>
              </a:defRPr>
            </a:pPr>
            <a:r>
              <a:t>[Approved client / sector]</a:t>
            </a:r>
          </a:p>
          <a:p>
            <a:pPr>
              <a:defRPr sz="2000" b="0">
                <a:solidFill>
                  <a:srgbClr val="002050"/>
                </a:solidFill>
                <a:latin typeface="Manrope"/>
              </a:defRPr>
            </a:pPr>
            <a:r>
              <a:t>[Challenge]</a:t>
            </a:r>
          </a:p>
          <a:p>
            <a:pPr>
              <a:defRPr sz="2000" b="0">
                <a:solidFill>
                  <a:srgbClr val="002050"/>
                </a:solidFill>
                <a:latin typeface="Manrope"/>
              </a:defRPr>
            </a:pPr>
            <a:r>
              <a:t>[Solution]</a:t>
            </a:r>
          </a:p>
          <a:p>
            <a:pPr>
              <a:defRPr sz="2000" b="0">
                <a:solidFill>
                  <a:srgbClr val="002050"/>
                </a:solidFill>
                <a:latin typeface="Manrope"/>
              </a:defRPr>
            </a:pPr>
            <a:r>
              <a:t>[Verified result]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2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[العميل المعتمد / القطاع]</a:t>
            </a:r>
          </a:p>
          <a:p>
            <a:pPr algn="r" rtl="1">
              <a:defRPr sz="22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[التحدي]</a:t>
            </a:r>
          </a:p>
          <a:p>
            <a:pPr algn="r" rtl="1">
              <a:defRPr sz="22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[الحل]</a:t>
            </a:r>
          </a:p>
          <a:p>
            <a:pPr algn="r" rtl="1">
              <a:defRPr sz="22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[النتيجة الموثقة]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778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Illustrative case-study layout / نموذج دراسة حالة توضيحي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thar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"/>
            <a:ext cx="2057400" cy="857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365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ATHAR INTELLIGENCE · أثر الذكاء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050"/>
                </a:solidFill>
                <a:latin typeface="Manrope"/>
              </a:defRPr>
            </a:pPr>
            <a:r>
              <a:t>Commercial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8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جدول مالي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789920" cy="1371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hello@athar.example · Riyadh / الرياض · EDITABLE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AI-PRS-2026-001 · 11/13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2103120"/>
          <a:ext cx="107899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6629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IBM Plex Sans Arabic"/>
                        </a:defRPr>
                      </a:pPr>
                      <a:r>
                        <a:t>Service / الخدمة</a:t>
                      </a:r>
                    </a:p>
                  </a:txBody>
                  <a:tcPr>
                    <a:solidFill>
                      <a:srgbClr val="002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IBM Plex Sans Arabic"/>
                        </a:defRPr>
                      </a:pPr>
                      <a:r>
                        <a:t>Qty / الكمية</a:t>
                      </a:r>
                    </a:p>
                  </a:txBody>
                  <a:tcPr>
                    <a:solidFill>
                      <a:srgbClr val="002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IBM Plex Sans Arabic"/>
                        </a:defRPr>
                      </a:pPr>
                      <a:r>
                        <a:t>Unit SAR / الوحدة</a:t>
                      </a:r>
                    </a:p>
                  </a:txBody>
                  <a:tcPr>
                    <a:solidFill>
                      <a:srgbClr val="002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FFFFFF"/>
                          </a:solidFill>
                          <a:latin typeface="IBM Plex Sans Arabic"/>
                        </a:defRPr>
                      </a:pPr>
                      <a:r>
                        <a:t>Net SAR / الصافي</a:t>
                      </a:r>
                    </a:p>
                  </a:txBody>
                  <a:tcPr>
                    <a:solidFill>
                      <a:srgbClr val="002050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2050"/>
                          </a:solidFill>
                          <a:latin typeface="IBM Plex Sans Arabic"/>
                        </a:defRPr>
                      </a:pPr>
                      <a:r>
                        <a:t>Discovery / استكشاف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2050"/>
                          </a:solidFill>
                          <a:latin typeface="IBM Plex Sans Arab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2050"/>
                          </a:solidFill>
                          <a:latin typeface="IBM Plex Sans Arabic"/>
                        </a:defRPr>
                      </a:pPr>
                      <a:r>
                        <a:t>5,000.00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2050"/>
                          </a:solidFill>
                          <a:latin typeface="IBM Plex Sans Arabic"/>
                        </a:defRPr>
                      </a:pPr>
                      <a:r>
                        <a:t>10,000.00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2050"/>
                          </a:solidFill>
                          <a:latin typeface="IBM Plex Sans Arabic"/>
                        </a:defRPr>
                      </a:pPr>
                      <a:r>
                        <a:t>Architecture / البنية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2050"/>
                          </a:solidFill>
                          <a:latin typeface="IBM Plex Sans Arab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2050"/>
                          </a:solidFill>
                          <a:latin typeface="IBM Plex Sans Arabic"/>
                        </a:defRPr>
                      </a:pPr>
                      <a:r>
                        <a:t>8,000.00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2050"/>
                          </a:solidFill>
                          <a:latin typeface="IBM Plex Sans Arabic"/>
                        </a:defRPr>
                      </a:pPr>
                      <a:r>
                        <a:t>7,500.00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2050"/>
                          </a:solidFill>
                          <a:latin typeface="IBM Plex Sans Arabic"/>
                        </a:defRPr>
                      </a:pPr>
                      <a:r>
                        <a:t>Total incl. VAT / الإجمالي شامل الضريبة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2050"/>
                          </a:solidFill>
                          <a:latin typeface="IBM Plex Sans Arabic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2050"/>
                          </a:solidFill>
                          <a:latin typeface="IBM Plex Sans Arabic"/>
                        </a:defRPr>
                      </a:p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002050"/>
                          </a:solidFill>
                          <a:latin typeface="IBM Plex Sans Arabic"/>
                        </a:defRPr>
                      </a:pPr>
                      <a:r>
                        <a:t>20,125.00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" y="50292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4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Discount / الخصم: SAR 500 · VAT / الضريبة: 15% = SAR 2,625 · Illustrative / توضيحي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thar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"/>
            <a:ext cx="2057400" cy="857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365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ATHAR INTELLIGENCE · أثر الذكاء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050"/>
                </a:solidFill>
                <a:latin typeface="Manrope"/>
              </a:defRPr>
            </a:pPr>
            <a:r>
              <a:t>Evidence &amp;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8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الأدلة والرؤى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789920" cy="1371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hello@athar.example · Riyadh / الرياض · EDITABLE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AI-PRS-2026-001 · 12/13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85800" y="2011680"/>
          <a:ext cx="731520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412480" y="228600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[Insight / الرؤية]</a:t>
            </a:r>
          </a:p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[Source / المصدر]</a:t>
            </a:r>
          </a:p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Illustrative data</a:t>
            </a:r>
          </a:p>
          <a:p>
            <a:pPr algn="r" rtl="1">
              <a:defRPr sz="18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بيانات توضيحية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thar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"/>
            <a:ext cx="2057400" cy="857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365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ATHAR INTELLIGENCE · أثر الذكاء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2050"/>
                </a:solidFill>
                <a:latin typeface="Manrope"/>
              </a:defRPr>
            </a:pPr>
            <a:r>
              <a:t>Let’s create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115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800" b="1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لنصنع الأثر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789920" cy="13716"/>
          </a:xfrm>
          <a:prstGeom prst="rect">
            <a:avLst/>
          </a:prstGeom>
          <a:solidFill>
            <a:srgbClr val="E8B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190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hello@athar.example · Riyadh / الرياض · EDITABLE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2050"/>
                </a:solidFill>
                <a:latin typeface="Manrope"/>
              </a:defRPr>
            </a:pPr>
            <a:r>
              <a:t>AI-PRS-2026-001 · 13/13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2050"/>
                </a:solidFill>
                <a:latin typeface="Manrope"/>
              </a:defRPr>
            </a:pPr>
            <a:r>
              <a:t>Thank you.</a:t>
            </a:r>
          </a:p>
          <a:p>
            <a:pPr>
              <a:defRPr sz="2000" b="0">
                <a:solidFill>
                  <a:srgbClr val="002050"/>
                </a:solidFill>
                <a:latin typeface="Manrope"/>
              </a:defRPr>
            </a:pPr>
            <a:r>
              <a:t>hello@athar.example</a:t>
            </a:r>
          </a:p>
          <a:p>
            <a:pPr>
              <a:defRPr sz="2000" b="0">
                <a:solidFill>
                  <a:srgbClr val="002050"/>
                </a:solidFill>
                <a:latin typeface="Manrope"/>
              </a:defRPr>
            </a:pPr>
            <a:r>
              <a:t>athar.example</a:t>
            </a:r>
          </a:p>
          <a:p>
            <a:pPr>
              <a:defRPr sz="2000" b="0">
                <a:solidFill>
                  <a:srgbClr val="002050"/>
                </a:solidFill>
                <a:latin typeface="Manrope"/>
              </a:defRPr>
            </a:pPr>
            <a:r>
              <a:t>+966 5X XXX XXXX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22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شكراً لكم.</a:t>
            </a:r>
          </a:p>
          <a:p>
            <a:pPr algn="r" rtl="1">
              <a:defRPr sz="22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الرياض، المملكة العربية السعودية</a:t>
            </a:r>
          </a:p>
          <a:p>
            <a:pPr algn="r" rtl="1">
              <a:defRPr sz="2200" b="0">
                <a:solidFill>
                  <a:srgbClr val="002050"/>
                </a:solidFill>
                <a:latin typeface="IBM Plex Sans Arabic"/>
              </a:defRPr>
            </a:pPr>
            <a:r>
              <a:rPr lang="ar-SA">
                <a:cs typeface="IBM Plex Sans Arabic"/>
              </a:rPr>
              <a:t>[الخطوة التالية]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